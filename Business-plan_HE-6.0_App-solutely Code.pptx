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801600" cy="9601200" type="A3"/>
  <p:notesSz cx="12801600" cy="96012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>
      <p:cViewPr varScale="1">
        <p:scale>
          <a:sx n="75" d="100"/>
          <a:sy n="75" d="100"/>
        </p:scale>
        <p:origin x="1746" y="7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60120" y="2976372"/>
            <a:ext cx="10881360" cy="20162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920240" y="5376672"/>
            <a:ext cx="8961120" cy="24003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40080" y="2208276"/>
            <a:ext cx="5568696" cy="633679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592824" y="2208276"/>
            <a:ext cx="5568696" cy="633679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91275" y="284926"/>
            <a:ext cx="5857240" cy="12077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40080" y="2208276"/>
            <a:ext cx="11521440" cy="633679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352544" y="8929116"/>
            <a:ext cx="4096512" cy="4800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40080" y="8929116"/>
            <a:ext cx="2944368" cy="4800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9217152" y="8929116"/>
            <a:ext cx="2944368" cy="4800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sdgs.un.org/goals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1274" y="284926"/>
            <a:ext cx="5875426" cy="1010533"/>
          </a:xfrm>
          <a:prstGeom prst="rect">
            <a:avLst/>
          </a:prstGeom>
          <a:ln w="25399">
            <a:solidFill>
              <a:srgbClr val="7F7F7F"/>
            </a:solidFill>
          </a:ln>
        </p:spPr>
        <p:txBody>
          <a:bodyPr vert="horz" wrap="square" lIns="0" tIns="25400" rIns="0" bIns="0" rtlCol="0">
            <a:spAutoFit/>
          </a:bodyPr>
          <a:lstStyle/>
          <a:p>
            <a:pPr marL="85725" marR="3598545">
              <a:lnSpc>
                <a:spcPct val="100000"/>
              </a:lnSpc>
              <a:spcBef>
                <a:spcPts val="200"/>
              </a:spcBef>
            </a:pPr>
            <a:r>
              <a:rPr sz="1600" dirty="0"/>
              <a:t>PROJECT</a:t>
            </a:r>
            <a:r>
              <a:rPr sz="1600" spc="-135" dirty="0"/>
              <a:t> </a:t>
            </a:r>
            <a:r>
              <a:rPr sz="1600" spc="-10" dirty="0"/>
              <a:t>NAM</a:t>
            </a:r>
            <a:r>
              <a:rPr lang="en-US" sz="1600" spc="-10" dirty="0"/>
              <a:t>E: </a:t>
            </a:r>
            <a:r>
              <a:rPr lang="en-US" sz="1600" b="1" spc="-10" dirty="0"/>
              <a:t>Trade4all</a:t>
            </a:r>
            <a:br>
              <a:rPr lang="en-US" sz="1600" spc="-10" dirty="0"/>
            </a:br>
            <a:r>
              <a:rPr sz="1600" dirty="0"/>
              <a:t>TEAM</a:t>
            </a:r>
            <a:r>
              <a:rPr lang="en-US" sz="1600" dirty="0"/>
              <a:t>: </a:t>
            </a:r>
            <a:r>
              <a:rPr lang="en-US" sz="1600" b="1" dirty="0"/>
              <a:t>App-</a:t>
            </a:r>
            <a:r>
              <a:rPr lang="en-US" sz="1600" b="1" dirty="0" err="1"/>
              <a:t>solutely</a:t>
            </a:r>
            <a:r>
              <a:rPr lang="en-US" sz="1600" b="1" dirty="0"/>
              <a:t> Code</a:t>
            </a:r>
            <a:br>
              <a:rPr lang="en-US" sz="1600" dirty="0"/>
            </a:br>
            <a:r>
              <a:rPr sz="1600" spc="-10" dirty="0"/>
              <a:t>MEMBERS:</a:t>
            </a:r>
            <a:r>
              <a:rPr lang="en-US" sz="1600" spc="-10" dirty="0"/>
              <a:t> </a:t>
            </a:r>
            <a:br>
              <a:rPr lang="en-US" sz="1600" spc="-10" dirty="0"/>
            </a:br>
            <a:r>
              <a:rPr lang="en-US" sz="1600" b="1" spc="-10" dirty="0"/>
              <a:t>Cojocariu Ilinca-Ioana</a:t>
            </a:r>
            <a:endParaRPr sz="1600" b="1" spc="-10" dirty="0"/>
          </a:p>
        </p:txBody>
      </p:sp>
      <p:sp>
        <p:nvSpPr>
          <p:cNvPr id="3" name="object 3"/>
          <p:cNvSpPr/>
          <p:nvPr/>
        </p:nvSpPr>
        <p:spPr>
          <a:xfrm>
            <a:off x="373412" y="2414462"/>
            <a:ext cx="11819255" cy="529590"/>
          </a:xfrm>
          <a:custGeom>
            <a:avLst/>
            <a:gdLst/>
            <a:ahLst/>
            <a:cxnLst/>
            <a:rect l="l" t="t" r="r" b="b"/>
            <a:pathLst>
              <a:path w="11819255" h="529589">
                <a:moveTo>
                  <a:pt x="0" y="12"/>
                </a:moveTo>
                <a:lnTo>
                  <a:pt x="5892899" y="12"/>
                </a:lnTo>
                <a:lnTo>
                  <a:pt x="5892899" y="520512"/>
                </a:lnTo>
                <a:lnTo>
                  <a:pt x="0" y="520512"/>
                </a:lnTo>
                <a:lnTo>
                  <a:pt x="0" y="12"/>
                </a:lnTo>
                <a:close/>
              </a:path>
              <a:path w="11819255" h="529589">
                <a:moveTo>
                  <a:pt x="5925762" y="0"/>
                </a:moveTo>
                <a:lnTo>
                  <a:pt x="11818662" y="0"/>
                </a:lnTo>
                <a:lnTo>
                  <a:pt x="11818662" y="529499"/>
                </a:lnTo>
                <a:lnTo>
                  <a:pt x="5925762" y="529499"/>
                </a:lnTo>
                <a:lnTo>
                  <a:pt x="5925762" y="0"/>
                </a:lnTo>
                <a:close/>
              </a:path>
            </a:pathLst>
          </a:custGeom>
          <a:ln w="25399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70724" y="3053850"/>
            <a:ext cx="5895975" cy="3094990"/>
          </a:xfrm>
          <a:custGeom>
            <a:avLst/>
            <a:gdLst/>
            <a:ahLst/>
            <a:cxnLst/>
            <a:rect l="l" t="t" r="r" b="b"/>
            <a:pathLst>
              <a:path w="5895975" h="3094990">
                <a:moveTo>
                  <a:pt x="2699" y="0"/>
                </a:moveTo>
                <a:lnTo>
                  <a:pt x="5895599" y="0"/>
                </a:lnTo>
                <a:lnTo>
                  <a:pt x="5895599" y="2550899"/>
                </a:lnTo>
                <a:lnTo>
                  <a:pt x="2699" y="2550899"/>
                </a:lnTo>
                <a:lnTo>
                  <a:pt x="2699" y="0"/>
                </a:lnTo>
                <a:close/>
              </a:path>
              <a:path w="5895975" h="3094990">
                <a:moveTo>
                  <a:pt x="0" y="2574367"/>
                </a:moveTo>
                <a:lnTo>
                  <a:pt x="3896399" y="2574367"/>
                </a:lnTo>
                <a:lnTo>
                  <a:pt x="3896399" y="3094867"/>
                </a:lnTo>
                <a:lnTo>
                  <a:pt x="0" y="3094867"/>
                </a:lnTo>
                <a:lnTo>
                  <a:pt x="0" y="2574367"/>
                </a:lnTo>
                <a:close/>
              </a:path>
            </a:pathLst>
          </a:custGeom>
          <a:ln w="25399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443749" y="5641425"/>
            <a:ext cx="27393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libri"/>
                <a:cs typeface="Calibri"/>
              </a:rPr>
              <a:t>3.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SMART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OBJECTIVES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300125" y="5623717"/>
            <a:ext cx="3896995" cy="529590"/>
          </a:xfrm>
          <a:custGeom>
            <a:avLst/>
            <a:gdLst/>
            <a:ahLst/>
            <a:cxnLst/>
            <a:rect l="l" t="t" r="r" b="b"/>
            <a:pathLst>
              <a:path w="3896995" h="529589">
                <a:moveTo>
                  <a:pt x="0" y="0"/>
                </a:moveTo>
                <a:lnTo>
                  <a:pt x="3896399" y="0"/>
                </a:lnTo>
                <a:lnTo>
                  <a:pt x="3896399" y="529499"/>
                </a:lnTo>
                <a:lnTo>
                  <a:pt x="0" y="529499"/>
                </a:lnTo>
                <a:lnTo>
                  <a:pt x="0" y="0"/>
                </a:lnTo>
                <a:close/>
              </a:path>
            </a:pathLst>
          </a:custGeom>
          <a:ln w="25399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4373150" y="5636926"/>
            <a:ext cx="103631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libri"/>
                <a:cs typeface="Calibri"/>
              </a:rPr>
              <a:t>4.</a:t>
            </a:r>
            <a:r>
              <a:rPr sz="2400" spc="-10" dirty="0">
                <a:latin typeface="Calibri"/>
                <a:cs typeface="Calibri"/>
              </a:rPr>
              <a:t> PRICE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333125" y="6259800"/>
            <a:ext cx="3896995" cy="1464503"/>
          </a:xfrm>
          <a:prstGeom prst="rect">
            <a:avLst/>
          </a:prstGeom>
          <a:ln w="25399">
            <a:solidFill>
              <a:srgbClr val="7F7F7F"/>
            </a:solidFill>
          </a:ln>
        </p:spPr>
        <p:txBody>
          <a:bodyPr vert="horz" wrap="square" lIns="0" tIns="27940" rIns="0" bIns="0" rtlCol="0">
            <a:spAutoFit/>
          </a:bodyPr>
          <a:lstStyle/>
          <a:p>
            <a:pPr marL="371475" indent="-285750">
              <a:lnSpc>
                <a:spcPct val="100000"/>
              </a:lnSpc>
              <a:spcBef>
                <a:spcPts val="220"/>
              </a:spcBef>
              <a:buFont typeface="Arial" panose="020B0604020202020204" pitchFamily="34" charset="0"/>
              <a:buChar char="•"/>
            </a:pPr>
            <a:r>
              <a:rPr lang="en-US" spc="-10" dirty="0">
                <a:solidFill>
                  <a:schemeClr val="tx1"/>
                </a:solidFill>
                <a:latin typeface="Calibri"/>
                <a:cs typeface="Calibri"/>
              </a:rPr>
              <a:t>Free for all users.</a:t>
            </a:r>
          </a:p>
          <a:p>
            <a:pPr marL="371475" indent="-285750">
              <a:lnSpc>
                <a:spcPct val="100000"/>
              </a:lnSpc>
              <a:spcBef>
                <a:spcPts val="220"/>
              </a:spcBef>
              <a:buFont typeface="Arial" panose="020B0604020202020204" pitchFamily="34" charset="0"/>
              <a:buChar char="•"/>
            </a:pPr>
            <a:r>
              <a:rPr lang="en-US" spc="-10" dirty="0">
                <a:solidFill>
                  <a:schemeClr val="tx1"/>
                </a:solidFill>
                <a:latin typeface="Calibri"/>
                <a:cs typeface="Calibri"/>
              </a:rPr>
              <a:t>Sustained through school partnerships, local bookshops sponsorships.</a:t>
            </a:r>
          </a:p>
          <a:p>
            <a:pPr marL="85725">
              <a:lnSpc>
                <a:spcPct val="100000"/>
              </a:lnSpc>
              <a:spcBef>
                <a:spcPts val="220"/>
              </a:spcBef>
            </a:pPr>
            <a:endParaRPr dirty="0">
              <a:solidFill>
                <a:schemeClr val="tx1"/>
              </a:solidFill>
              <a:latin typeface="Calibri"/>
              <a:cs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8229524" y="5628217"/>
            <a:ext cx="3896995" cy="520700"/>
          </a:xfrm>
          <a:custGeom>
            <a:avLst/>
            <a:gdLst/>
            <a:ahLst/>
            <a:cxnLst/>
            <a:rect l="l" t="t" r="r" b="b"/>
            <a:pathLst>
              <a:path w="3896995" h="520700">
                <a:moveTo>
                  <a:pt x="0" y="0"/>
                </a:moveTo>
                <a:lnTo>
                  <a:pt x="3896399" y="0"/>
                </a:lnTo>
                <a:lnTo>
                  <a:pt x="3896399" y="520499"/>
                </a:lnTo>
                <a:lnTo>
                  <a:pt x="0" y="520499"/>
                </a:lnTo>
                <a:lnTo>
                  <a:pt x="0" y="0"/>
                </a:lnTo>
                <a:close/>
              </a:path>
            </a:pathLst>
          </a:custGeom>
          <a:ln w="25399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8302549" y="5641425"/>
            <a:ext cx="19056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Calibri"/>
                <a:cs typeface="Calibri"/>
              </a:rPr>
              <a:t>5.</a:t>
            </a:r>
            <a:r>
              <a:rPr sz="2400" spc="-1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PROMOTION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315249" y="6827605"/>
            <a:ext cx="231775" cy="304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280"/>
              </a:lnSpc>
            </a:pPr>
            <a:r>
              <a:rPr sz="2400" spc="-25" dirty="0">
                <a:latin typeface="Calibri"/>
                <a:cs typeface="Calibri"/>
              </a:rPr>
              <a:t>5.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8295524" y="6259924"/>
            <a:ext cx="3896995" cy="3113405"/>
          </a:xfrm>
          <a:custGeom>
            <a:avLst/>
            <a:gdLst/>
            <a:ahLst/>
            <a:cxnLst/>
            <a:rect l="l" t="t" r="r" b="b"/>
            <a:pathLst>
              <a:path w="3896995" h="3113404">
                <a:moveTo>
                  <a:pt x="3896399" y="3112799"/>
                </a:moveTo>
                <a:lnTo>
                  <a:pt x="0" y="3112799"/>
                </a:lnTo>
                <a:lnTo>
                  <a:pt x="0" y="0"/>
                </a:lnTo>
                <a:lnTo>
                  <a:pt x="3896399" y="0"/>
                </a:lnTo>
                <a:lnTo>
                  <a:pt x="3896399" y="311279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8295524" y="6259924"/>
            <a:ext cx="3896995" cy="2018501"/>
          </a:xfrm>
          <a:prstGeom prst="rect">
            <a:avLst/>
          </a:prstGeom>
          <a:ln w="25399">
            <a:solidFill>
              <a:srgbClr val="7F7F7F"/>
            </a:solidFill>
          </a:ln>
        </p:spPr>
        <p:txBody>
          <a:bodyPr vert="horz" wrap="square" lIns="0" tIns="27940" rIns="0" bIns="0" rtlCol="0">
            <a:spAutoFit/>
          </a:bodyPr>
          <a:lstStyle/>
          <a:p>
            <a:pPr marL="371475" indent="-285750">
              <a:lnSpc>
                <a:spcPct val="100000"/>
              </a:lnSpc>
              <a:spcBef>
                <a:spcPts val="22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Calibri"/>
                <a:cs typeface="Calibri"/>
              </a:rPr>
              <a:t>Schools – present the app to parents and teachers in school meetings</a:t>
            </a:r>
          </a:p>
          <a:p>
            <a:pPr marL="371475" indent="-285750">
              <a:lnSpc>
                <a:spcPct val="100000"/>
              </a:lnSpc>
              <a:spcBef>
                <a:spcPts val="22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Calibri"/>
                <a:cs typeface="Calibri"/>
              </a:rPr>
              <a:t>Extracurriculars – sports clubs, art classes, summer camps</a:t>
            </a:r>
          </a:p>
          <a:p>
            <a:pPr marL="371475" indent="-285750">
              <a:lnSpc>
                <a:spcPct val="100000"/>
              </a:lnSpc>
              <a:spcBef>
                <a:spcPts val="22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Calibri"/>
                <a:cs typeface="Calibri"/>
              </a:rPr>
              <a:t>Neighborhood Networking – encourage users to bring friends and relatives on t</a:t>
            </a:r>
            <a:endParaRPr dirty="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317024" y="284926"/>
            <a:ext cx="5857240" cy="887422"/>
          </a:xfrm>
          <a:prstGeom prst="rect">
            <a:avLst/>
          </a:prstGeom>
          <a:ln w="25399">
            <a:solidFill>
              <a:srgbClr val="7F7F7F"/>
            </a:solidFill>
          </a:ln>
        </p:spPr>
        <p:txBody>
          <a:bodyPr vert="horz" wrap="square" lIns="0" tIns="25400" rIns="0" bIns="0" rtlCol="0">
            <a:spAutoFit/>
          </a:bodyPr>
          <a:lstStyle/>
          <a:p>
            <a:pPr marL="85090">
              <a:lnSpc>
                <a:spcPct val="100000"/>
              </a:lnSpc>
              <a:spcBef>
                <a:spcPts val="200"/>
              </a:spcBef>
            </a:pPr>
            <a:r>
              <a:rPr sz="2000" dirty="0">
                <a:latin typeface="Calibri"/>
                <a:cs typeface="Calibri"/>
              </a:rPr>
              <a:t>IDEA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SHORT:</a:t>
            </a:r>
            <a:r>
              <a:rPr lang="en-US" sz="2000" spc="-10" dirty="0">
                <a:latin typeface="Calibri"/>
                <a:cs typeface="Calibri"/>
              </a:rPr>
              <a:t>  </a:t>
            </a:r>
            <a:r>
              <a:rPr lang="en-US" spc="-10" dirty="0">
                <a:latin typeface="Calibri"/>
                <a:cs typeface="Calibri"/>
              </a:rPr>
              <a:t>Trade4all is an app where kids or teens can donate, share or swap items in order to meet up and create new relations.</a:t>
            </a:r>
            <a:endParaRPr dirty="0">
              <a:latin typeface="Calibri"/>
              <a:cs typeface="Calibri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370724" y="1611287"/>
            <a:ext cx="11821795" cy="684530"/>
          </a:xfrm>
          <a:custGeom>
            <a:avLst/>
            <a:gdLst/>
            <a:ahLst/>
            <a:cxnLst/>
            <a:rect l="l" t="t" r="r" b="b"/>
            <a:pathLst>
              <a:path w="11821795" h="684530">
                <a:moveTo>
                  <a:pt x="0" y="0"/>
                </a:moveTo>
                <a:lnTo>
                  <a:pt x="11821199" y="0"/>
                </a:lnTo>
                <a:lnTo>
                  <a:pt x="11821199" y="684299"/>
                </a:lnTo>
                <a:lnTo>
                  <a:pt x="0" y="684299"/>
                </a:lnTo>
                <a:lnTo>
                  <a:pt x="0" y="0"/>
                </a:lnTo>
                <a:close/>
              </a:path>
            </a:pathLst>
          </a:custGeom>
          <a:ln w="25399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452858" y="1592132"/>
            <a:ext cx="11090111" cy="127983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91615">
              <a:lnSpc>
                <a:spcPct val="100000"/>
              </a:lnSpc>
              <a:spcBef>
                <a:spcPts val="100"/>
              </a:spcBef>
            </a:pPr>
            <a:r>
              <a:rPr sz="4000" b="1" dirty="0">
                <a:latin typeface="Cambria"/>
                <a:cs typeface="Cambria"/>
              </a:rPr>
              <a:t>Hardcore</a:t>
            </a:r>
            <a:r>
              <a:rPr sz="4000" b="1" spc="-60" dirty="0">
                <a:latin typeface="Cambria"/>
                <a:cs typeface="Cambria"/>
              </a:rPr>
              <a:t> </a:t>
            </a:r>
            <a:r>
              <a:rPr lang="en-US" sz="4000" b="1" spc="-60" dirty="0">
                <a:solidFill>
                  <a:srgbClr val="F13662"/>
                </a:solidFill>
                <a:latin typeface="Arial MT"/>
                <a:cs typeface="Cambria"/>
              </a:rPr>
              <a:t>Entrepreneur</a:t>
            </a:r>
            <a:r>
              <a:rPr sz="4000" spc="-130" dirty="0">
                <a:solidFill>
                  <a:srgbClr val="F13662"/>
                </a:solidFill>
                <a:latin typeface="Arial MT"/>
                <a:cs typeface="Arial MT"/>
              </a:rPr>
              <a:t> </a:t>
            </a:r>
            <a:r>
              <a:rPr sz="4000" b="1" dirty="0">
                <a:latin typeface="Cambria"/>
                <a:cs typeface="Cambria"/>
              </a:rPr>
              <a:t>hackathon</a:t>
            </a:r>
            <a:r>
              <a:rPr sz="4000" b="1" spc="-60" dirty="0">
                <a:latin typeface="Cambria"/>
                <a:cs typeface="Cambria"/>
              </a:rPr>
              <a:t> </a:t>
            </a:r>
            <a:r>
              <a:rPr lang="en-US" sz="4000" b="1" spc="-25" dirty="0">
                <a:solidFill>
                  <a:srgbClr val="F13662"/>
                </a:solidFill>
                <a:latin typeface="Arial MT"/>
                <a:cs typeface="Cambria"/>
              </a:rPr>
              <a:t>6.0</a:t>
            </a:r>
            <a:endParaRPr sz="40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2190"/>
              </a:spcBef>
              <a:tabLst>
                <a:tab pos="5937885" algn="l"/>
              </a:tabLst>
            </a:pPr>
            <a:r>
              <a:rPr sz="2400" dirty="0">
                <a:latin typeface="Calibri"/>
                <a:cs typeface="Calibri"/>
              </a:rPr>
              <a:t>1.PRODUCT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-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PROBLEM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SOLVE</a:t>
            </a:r>
            <a:r>
              <a:rPr sz="2400" dirty="0">
                <a:latin typeface="Calibri"/>
                <a:cs typeface="Calibri"/>
              </a:rPr>
              <a:t>	2.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OUR</a:t>
            </a:r>
            <a:r>
              <a:rPr sz="2400" spc="-35" dirty="0">
                <a:latin typeface="Calibri"/>
                <a:cs typeface="Calibri"/>
              </a:rPr>
              <a:t> TARGET </a:t>
            </a:r>
            <a:r>
              <a:rPr sz="2400" spc="-10" dirty="0">
                <a:latin typeface="Calibri"/>
                <a:cs typeface="Calibri"/>
              </a:rPr>
              <a:t>GROUP</a:t>
            </a:r>
            <a:r>
              <a:rPr lang="en-US" sz="2400" spc="-10" dirty="0">
                <a:latin typeface="Calibri"/>
                <a:cs typeface="Calibri"/>
              </a:rPr>
              <a:t> &amp; </a:t>
            </a:r>
            <a:r>
              <a:rPr lang="en-US" sz="2400" spc="-10" dirty="0">
                <a:latin typeface="Calibri"/>
                <a:cs typeface="Calibri"/>
                <a:hlinkClick r:id="rId2"/>
              </a:rPr>
              <a:t>SDGs </a:t>
            </a:r>
            <a:endParaRPr sz="2400" dirty="0">
              <a:latin typeface="Calibri"/>
              <a:cs typeface="Calibri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5728699" y="2476036"/>
            <a:ext cx="6354445" cy="406400"/>
            <a:chOff x="5728699" y="2476036"/>
            <a:chExt cx="6354445" cy="406400"/>
          </a:xfrm>
        </p:grpSpPr>
        <p:sp>
          <p:nvSpPr>
            <p:cNvPr id="18" name="object 18"/>
            <p:cNvSpPr/>
            <p:nvPr/>
          </p:nvSpPr>
          <p:spPr>
            <a:xfrm>
              <a:off x="5741399" y="2488736"/>
              <a:ext cx="412115" cy="381000"/>
            </a:xfrm>
            <a:custGeom>
              <a:avLst/>
              <a:gdLst/>
              <a:ahLst/>
              <a:cxnLst/>
              <a:rect l="l" t="t" r="r" b="b"/>
              <a:pathLst>
                <a:path w="412114" h="381000">
                  <a:moveTo>
                    <a:pt x="411899" y="380999"/>
                  </a:moveTo>
                  <a:lnTo>
                    <a:pt x="0" y="380999"/>
                  </a:lnTo>
                  <a:lnTo>
                    <a:pt x="0" y="0"/>
                  </a:lnTo>
                  <a:lnTo>
                    <a:pt x="411899" y="0"/>
                  </a:lnTo>
                  <a:lnTo>
                    <a:pt x="411899" y="380999"/>
                  </a:lnTo>
                  <a:close/>
                </a:path>
              </a:pathLst>
            </a:custGeom>
            <a:solidFill>
              <a:srgbClr val="FF7B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5741399" y="2488736"/>
              <a:ext cx="412115" cy="381000"/>
            </a:xfrm>
            <a:custGeom>
              <a:avLst/>
              <a:gdLst/>
              <a:ahLst/>
              <a:cxnLst/>
              <a:rect l="l" t="t" r="r" b="b"/>
              <a:pathLst>
                <a:path w="412114" h="381000">
                  <a:moveTo>
                    <a:pt x="0" y="0"/>
                  </a:moveTo>
                  <a:lnTo>
                    <a:pt x="411899" y="0"/>
                  </a:lnTo>
                  <a:lnTo>
                    <a:pt x="411899" y="380999"/>
                  </a:lnTo>
                  <a:lnTo>
                    <a:pt x="0" y="380999"/>
                  </a:lnTo>
                  <a:lnTo>
                    <a:pt x="0" y="0"/>
                  </a:lnTo>
                  <a:close/>
                </a:path>
              </a:pathLst>
            </a:custGeom>
            <a:ln w="25399">
              <a:solidFill>
                <a:srgbClr val="00B0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1658550" y="2488736"/>
              <a:ext cx="412115" cy="381000"/>
            </a:xfrm>
            <a:custGeom>
              <a:avLst/>
              <a:gdLst/>
              <a:ahLst/>
              <a:cxnLst/>
              <a:rect l="l" t="t" r="r" b="b"/>
              <a:pathLst>
                <a:path w="412115" h="381000">
                  <a:moveTo>
                    <a:pt x="411899" y="380999"/>
                  </a:moveTo>
                  <a:lnTo>
                    <a:pt x="0" y="380999"/>
                  </a:lnTo>
                  <a:lnTo>
                    <a:pt x="0" y="0"/>
                  </a:lnTo>
                  <a:lnTo>
                    <a:pt x="411899" y="0"/>
                  </a:lnTo>
                  <a:lnTo>
                    <a:pt x="411899" y="380999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1658550" y="2488736"/>
              <a:ext cx="412115" cy="381000"/>
            </a:xfrm>
            <a:custGeom>
              <a:avLst/>
              <a:gdLst/>
              <a:ahLst/>
              <a:cxnLst/>
              <a:rect l="l" t="t" r="r" b="b"/>
              <a:pathLst>
                <a:path w="412115" h="381000">
                  <a:moveTo>
                    <a:pt x="0" y="0"/>
                  </a:moveTo>
                  <a:lnTo>
                    <a:pt x="411899" y="0"/>
                  </a:lnTo>
                  <a:lnTo>
                    <a:pt x="411899" y="380999"/>
                  </a:lnTo>
                  <a:lnTo>
                    <a:pt x="0" y="380999"/>
                  </a:lnTo>
                  <a:lnTo>
                    <a:pt x="0" y="0"/>
                  </a:lnTo>
                  <a:close/>
                </a:path>
              </a:pathLst>
            </a:custGeom>
            <a:ln w="25399">
              <a:solidFill>
                <a:srgbClr val="00B0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2" name="object 22"/>
          <p:cNvGrpSpPr/>
          <p:nvPr/>
        </p:nvGrpSpPr>
        <p:grpSpPr>
          <a:xfrm>
            <a:off x="3773949" y="3050150"/>
            <a:ext cx="8430895" cy="3041650"/>
            <a:chOff x="3773949" y="3050150"/>
            <a:chExt cx="8430895" cy="3041650"/>
          </a:xfrm>
        </p:grpSpPr>
        <p:sp>
          <p:nvSpPr>
            <p:cNvPr id="23" name="object 23"/>
            <p:cNvSpPr/>
            <p:nvPr/>
          </p:nvSpPr>
          <p:spPr>
            <a:xfrm>
              <a:off x="3786649" y="5697975"/>
              <a:ext cx="412115" cy="381000"/>
            </a:xfrm>
            <a:custGeom>
              <a:avLst/>
              <a:gdLst/>
              <a:ahLst/>
              <a:cxnLst/>
              <a:rect l="l" t="t" r="r" b="b"/>
              <a:pathLst>
                <a:path w="412114" h="381000">
                  <a:moveTo>
                    <a:pt x="411899" y="380999"/>
                  </a:moveTo>
                  <a:lnTo>
                    <a:pt x="0" y="380999"/>
                  </a:lnTo>
                  <a:lnTo>
                    <a:pt x="0" y="0"/>
                  </a:lnTo>
                  <a:lnTo>
                    <a:pt x="411899" y="0"/>
                  </a:lnTo>
                  <a:lnTo>
                    <a:pt x="411899" y="380999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3786649" y="5697975"/>
              <a:ext cx="412115" cy="381000"/>
            </a:xfrm>
            <a:custGeom>
              <a:avLst/>
              <a:gdLst/>
              <a:ahLst/>
              <a:cxnLst/>
              <a:rect l="l" t="t" r="r" b="b"/>
              <a:pathLst>
                <a:path w="412114" h="381000">
                  <a:moveTo>
                    <a:pt x="0" y="0"/>
                  </a:moveTo>
                  <a:lnTo>
                    <a:pt x="411899" y="0"/>
                  </a:lnTo>
                  <a:lnTo>
                    <a:pt x="411899" y="380999"/>
                  </a:lnTo>
                  <a:lnTo>
                    <a:pt x="0" y="380999"/>
                  </a:lnTo>
                  <a:lnTo>
                    <a:pt x="0" y="0"/>
                  </a:lnTo>
                  <a:close/>
                </a:path>
              </a:pathLst>
            </a:custGeom>
            <a:ln w="25399">
              <a:solidFill>
                <a:srgbClr val="00B0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7696200" y="5697975"/>
              <a:ext cx="412115" cy="381000"/>
            </a:xfrm>
            <a:custGeom>
              <a:avLst/>
              <a:gdLst/>
              <a:ahLst/>
              <a:cxnLst/>
              <a:rect l="l" t="t" r="r" b="b"/>
              <a:pathLst>
                <a:path w="412115" h="381000">
                  <a:moveTo>
                    <a:pt x="411899" y="380999"/>
                  </a:moveTo>
                  <a:lnTo>
                    <a:pt x="0" y="380999"/>
                  </a:lnTo>
                  <a:lnTo>
                    <a:pt x="0" y="0"/>
                  </a:lnTo>
                  <a:lnTo>
                    <a:pt x="411899" y="0"/>
                  </a:lnTo>
                  <a:lnTo>
                    <a:pt x="411899" y="380999"/>
                  </a:lnTo>
                  <a:close/>
                </a:path>
              </a:pathLst>
            </a:custGeom>
            <a:solidFill>
              <a:srgbClr val="F696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7696200" y="5697975"/>
              <a:ext cx="412115" cy="381000"/>
            </a:xfrm>
            <a:custGeom>
              <a:avLst/>
              <a:gdLst/>
              <a:ahLst/>
              <a:cxnLst/>
              <a:rect l="l" t="t" r="r" b="b"/>
              <a:pathLst>
                <a:path w="412115" h="381000">
                  <a:moveTo>
                    <a:pt x="0" y="0"/>
                  </a:moveTo>
                  <a:lnTo>
                    <a:pt x="411899" y="0"/>
                  </a:lnTo>
                  <a:lnTo>
                    <a:pt x="411899" y="380999"/>
                  </a:lnTo>
                  <a:lnTo>
                    <a:pt x="0" y="380999"/>
                  </a:lnTo>
                  <a:lnTo>
                    <a:pt x="0" y="0"/>
                  </a:lnTo>
                  <a:close/>
                </a:path>
              </a:pathLst>
            </a:custGeom>
            <a:ln w="25399">
              <a:solidFill>
                <a:srgbClr val="00B0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1605750" y="5697975"/>
              <a:ext cx="412115" cy="381000"/>
            </a:xfrm>
            <a:custGeom>
              <a:avLst/>
              <a:gdLst/>
              <a:ahLst/>
              <a:cxnLst/>
              <a:rect l="l" t="t" r="r" b="b"/>
              <a:pathLst>
                <a:path w="412115" h="381000">
                  <a:moveTo>
                    <a:pt x="411899" y="380999"/>
                  </a:moveTo>
                  <a:lnTo>
                    <a:pt x="0" y="380999"/>
                  </a:lnTo>
                  <a:lnTo>
                    <a:pt x="0" y="0"/>
                  </a:lnTo>
                  <a:lnTo>
                    <a:pt x="411899" y="0"/>
                  </a:lnTo>
                  <a:lnTo>
                    <a:pt x="411899" y="380999"/>
                  </a:lnTo>
                  <a:close/>
                </a:path>
              </a:pathLst>
            </a:custGeom>
            <a:solidFill>
              <a:srgbClr val="FF7B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1605750" y="5697975"/>
              <a:ext cx="412115" cy="381000"/>
            </a:xfrm>
            <a:custGeom>
              <a:avLst/>
              <a:gdLst/>
              <a:ahLst/>
              <a:cxnLst/>
              <a:rect l="l" t="t" r="r" b="b"/>
              <a:pathLst>
                <a:path w="412115" h="381000">
                  <a:moveTo>
                    <a:pt x="0" y="0"/>
                  </a:moveTo>
                  <a:lnTo>
                    <a:pt x="411899" y="0"/>
                  </a:lnTo>
                  <a:lnTo>
                    <a:pt x="411899" y="380999"/>
                  </a:lnTo>
                  <a:lnTo>
                    <a:pt x="0" y="380999"/>
                  </a:lnTo>
                  <a:lnTo>
                    <a:pt x="0" y="0"/>
                  </a:lnTo>
                  <a:close/>
                </a:path>
              </a:pathLst>
            </a:custGeom>
            <a:ln w="25399">
              <a:solidFill>
                <a:srgbClr val="00B0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6299162" y="3062850"/>
              <a:ext cx="5893435" cy="2551430"/>
            </a:xfrm>
            <a:custGeom>
              <a:avLst/>
              <a:gdLst/>
              <a:ahLst/>
              <a:cxnLst/>
              <a:rect l="l" t="t" r="r" b="b"/>
              <a:pathLst>
                <a:path w="5893434" h="2551429">
                  <a:moveTo>
                    <a:pt x="0" y="0"/>
                  </a:moveTo>
                  <a:lnTo>
                    <a:pt x="5892899" y="0"/>
                  </a:lnTo>
                  <a:lnTo>
                    <a:pt x="5892899" y="2550899"/>
                  </a:lnTo>
                  <a:lnTo>
                    <a:pt x="0" y="2550899"/>
                  </a:lnTo>
                  <a:lnTo>
                    <a:pt x="0" y="0"/>
                  </a:lnTo>
                  <a:close/>
                </a:path>
              </a:pathLst>
            </a:custGeom>
            <a:ln w="25399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370724" y="6259924"/>
            <a:ext cx="3896995" cy="2598147"/>
          </a:xfrm>
          <a:prstGeom prst="rect">
            <a:avLst/>
          </a:prstGeom>
          <a:ln w="25399">
            <a:solidFill>
              <a:srgbClr val="7F7F7F"/>
            </a:solidFill>
          </a:ln>
        </p:spPr>
        <p:txBody>
          <a:bodyPr vert="horz" wrap="square" lIns="0" tIns="27940" rIns="0" bIns="0" rtlCol="0">
            <a:spAutoFit/>
          </a:bodyPr>
          <a:lstStyle/>
          <a:p>
            <a:pPr marL="428625" indent="-342900">
              <a:lnSpc>
                <a:spcPct val="100000"/>
              </a:lnSpc>
              <a:spcBef>
                <a:spcPts val="22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Calibri"/>
                <a:cs typeface="Calibri"/>
              </a:rPr>
              <a:t>Onboard at least 2 schools in Iasi and reach to multiple users.</a:t>
            </a:r>
          </a:p>
          <a:p>
            <a:pPr marL="428625" indent="-342900">
              <a:lnSpc>
                <a:spcPct val="100000"/>
              </a:lnSpc>
              <a:spcBef>
                <a:spcPts val="22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Calibri"/>
                <a:cs typeface="Calibri"/>
              </a:rPr>
              <a:t>Facilitate the exchange of items in the first year.</a:t>
            </a:r>
          </a:p>
          <a:p>
            <a:pPr marL="428625" indent="-342900">
              <a:lnSpc>
                <a:spcPct val="100000"/>
              </a:lnSpc>
              <a:spcBef>
                <a:spcPts val="22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Calibri"/>
                <a:cs typeface="Calibri"/>
              </a:rPr>
              <a:t>Expand to schools outside the main city of Iasi.</a:t>
            </a:r>
          </a:p>
          <a:p>
            <a:pPr marL="428625" indent="-342900">
              <a:lnSpc>
                <a:spcPct val="100000"/>
              </a:lnSpc>
              <a:spcBef>
                <a:spcPts val="22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Calibri"/>
                <a:cs typeface="Calibri"/>
              </a:rPr>
              <a:t>Run a storytelling campaign showcasing the apps impact in the life of people using it.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600DC09-86A8-91DA-4422-B2B78C693CFB}"/>
              </a:ext>
            </a:extLst>
          </p:cNvPr>
          <p:cNvSpPr txBox="1"/>
          <p:nvPr/>
        </p:nvSpPr>
        <p:spPr>
          <a:xfrm>
            <a:off x="391274" y="3049383"/>
            <a:ext cx="5762240" cy="23391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+mn-lt"/>
              </a:rPr>
              <a:t>Many children struggle making friends in school, so this is where we come in hand. On Trade4all, kids or teens that need help can chat, swap, share or donate items. </a:t>
            </a:r>
          </a:p>
          <a:p>
            <a:r>
              <a:rPr lang="en-US" dirty="0">
                <a:latin typeface="+mn-lt"/>
              </a:rPr>
              <a:t>My goal isn’t to re-use items – it’s for people to meet up, gather more knowledge </a:t>
            </a:r>
            <a:r>
              <a:rPr lang="en-US" sz="2000" dirty="0">
                <a:latin typeface="+mn-lt"/>
              </a:rPr>
              <a:t>together</a:t>
            </a:r>
            <a:r>
              <a:rPr lang="en-US" dirty="0">
                <a:latin typeface="+mn-lt"/>
              </a:rPr>
              <a:t> and create new relations in a safe and kid-friendly environment. </a:t>
            </a:r>
          </a:p>
          <a:p>
            <a:r>
              <a:rPr lang="en-US" dirty="0">
                <a:latin typeface="+mn-lt"/>
              </a:rPr>
              <a:t>On Trade4all age doesn’t matter – whoever and whatever you gain does.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82BCC68-D50E-D671-1C3E-3D0D5044096C}"/>
              </a:ext>
            </a:extLst>
          </p:cNvPr>
          <p:cNvSpPr txBox="1"/>
          <p:nvPr/>
        </p:nvSpPr>
        <p:spPr>
          <a:xfrm>
            <a:off x="6400800" y="3174608"/>
            <a:ext cx="577346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+mn-lt"/>
              </a:rPr>
              <a:t>Target Group: Children ages 6 – 14 and their families in Iasi.</a:t>
            </a:r>
          </a:p>
          <a:p>
            <a:endParaRPr lang="en-US" dirty="0">
              <a:latin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+mn-lt"/>
              </a:rPr>
              <a:t>Reduced Inequalities (SDG 10)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+mn-lt"/>
              </a:rPr>
              <a:t>No Poverty (SDG 1)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+mn-lt"/>
              </a:rPr>
              <a:t>Quality Education (SDG 4)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175</TotalTime>
  <Words>283</Words>
  <Application>Microsoft Office PowerPoint</Application>
  <PresentationFormat>A3 Paper (297x420 mm)</PresentationFormat>
  <Paragraphs>25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Arial MT</vt:lpstr>
      <vt:lpstr>Calibri</vt:lpstr>
      <vt:lpstr>Cambria</vt:lpstr>
      <vt:lpstr>Office Theme</vt:lpstr>
      <vt:lpstr>PROJECT NAME: Trade4all TEAM: App-solutely Code MEMBERS:  Cojocariu Ilinca-Ioana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V.I.S.Canvas.pptx</dc:title>
  <dc:creator>Adi Cojocariu</dc:creator>
  <cp:lastModifiedBy>Adrian Cojocariu</cp:lastModifiedBy>
  <cp:revision>11</cp:revision>
  <dcterms:created xsi:type="dcterms:W3CDTF">2025-02-07T13:41:18Z</dcterms:created>
  <dcterms:modified xsi:type="dcterms:W3CDTF">2026-05-01T10:18:50Z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2025-02-07T00:00:00Z</vt:filetime>
  </property>
  <property fmtid="{D5CDD505-2E9C-101B-9397-08002B2CF9AE}" pid="3" name="Creator">
    <vt:lpwstr>Google</vt:lpwstr>
  </property>
  <property fmtid="{D5CDD505-2E9C-101B-9397-08002B2CF9AE}" pid="4" name="LastSaved">
    <vt:filetime>2025-02-07T00:00:00Z</vt:filetime>
  </property>
</Properties>
</file>